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PUBLIC TRANSIT PLANNER</a:t>
            </a:r>
          </a:p>
        </p:txBody>
      </p:sp>
      <p:sp>
        <p:nvSpPr>
          <p:cNvPr id="3" name="Subtitle 2"/>
          <p:cNvSpPr>
            <a:spLocks noGrp="1"/>
          </p:cNvSpPr>
          <p:nvPr>
            <p:ph type="subTitle" idx="1"/>
          </p:nvPr>
        </p:nvSpPr>
        <p:spPr>
          <a:xfrm>
            <a:off x="4270160" y="3513524"/>
            <a:ext cx="4551284" cy="1396014"/>
          </a:xfrm>
        </p:spPr>
        <p:txBody>
          <a:bodyPr/>
          <a:lstStyle/>
          <a:p>
            <a:pPr algn="ctr">
              <a:spcAft>
                <a:spcPts val="600"/>
              </a:spcAft>
              <a:buNone/>
            </a:pPr>
            <a:r>
              <a:rPr sz="1400" b="1" i="0">
                <a:solidFill>
                  <a:srgbClr val="333333"/>
                </a:solidFill>
                <a:latin typeface="Calibri"/>
              </a:rPr>
              <a:t>Team Members</a:t>
            </a:r>
          </a:p>
          <a:p>
            <a:pPr algn="ctr">
              <a:spcAft>
                <a:spcPts val="600"/>
              </a:spcAft>
              <a:buNone/>
            </a:pPr>
            <a:r>
              <a:rPr sz="1200" b="0" i="0">
                <a:solidFill>
                  <a:srgbClr val="333333"/>
                </a:solidFill>
                <a:latin typeface="Calibri"/>
              </a:rPr>
              <a:t>2520090005  M SAMPATH</a:t>
            </a:r>
          </a:p>
          <a:p>
            <a:pPr algn="ctr">
              <a:spcAft>
                <a:spcPts val="600"/>
              </a:spcAft>
              <a:buNone/>
            </a:pPr>
            <a:r>
              <a:rPr sz="1200" b="0" i="0">
                <a:solidFill>
                  <a:srgbClr val="333333"/>
                </a:solidFill>
                <a:latin typeface="Calibri"/>
              </a:rPr>
              <a:t>2520080064  M SUSHEEL RAO</a:t>
            </a:r>
          </a:p>
          <a:p>
            <a:pPr algn="ctr">
              <a:spcAft>
                <a:spcPts val="600"/>
              </a:spcAft>
              <a:buNone/>
            </a:pPr>
            <a:r>
              <a:rPr sz="1200" b="0" i="0">
                <a:solidFill>
                  <a:srgbClr val="333333"/>
                </a:solidFill>
                <a:latin typeface="Calibri"/>
              </a:rPr>
              <a:t>2520090113  S KAUSHIK</a:t>
            </a:r>
          </a:p>
          <a:p>
            <a:pPr>
              <a:spcAft>
                <a:spcPts val="600"/>
              </a:spcAft>
              <a:buNone/>
            </a:pPr>
            <a:r>
              <a:rPr sz="1000" b="0" i="0">
                <a:solidFill>
                  <a:srgbClr val="333333"/>
                </a:solidFill>
                <a:latin typeface="Calibri"/>
              </a:rPr>
              <a:t/>
            </a:r>
          </a:p>
          <a:p>
            <a:pPr algn="ctr">
              <a:spcAft>
                <a:spcPts val="600"/>
              </a:spcAft>
              <a:buNone/>
            </a:pPr>
            <a:r>
              <a:rPr sz="1200" b="0" i="0">
                <a:solidFill>
                  <a:srgbClr val="333333"/>
                </a:solidFill>
                <a:latin typeface="Calibri"/>
              </a:rPr>
              <a:t>Under the Esteemed Guidance of</a:t>
            </a:r>
          </a:p>
          <a:p>
            <a:pPr algn="ctr">
              <a:spcAft>
                <a:spcPts val="600"/>
              </a:spcAft>
              <a:buNone/>
            </a:pPr>
            <a:r>
              <a:rPr sz="1100" b="1" i="0">
                <a:solidFill>
                  <a:srgbClr val="333333"/>
                </a:solidFill>
                <a:latin typeface="Calibri"/>
              </a:rPr>
              <a:t>Name of the DSA-3 faculty name with designation and 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228600" indent="-228600" algn="l" rtl="0" eaLnBrk="1" fontAlgn="t" latinLnBrk="0" hangingPunct="1">
              <a:lnSpc>
                <a:spcPct val="150000"/>
              </a:lnSpc>
              <a:spcBef>
                <a:spcPts val="0"/>
              </a:spcBef>
              <a:spcAft>
                <a:spcPts val="600"/>
              </a:spcAft>
              <a:buFont typeface="Arial" panose="020B0604020202020204" pitchFamily="34" charset="0"/>
              <a:buChar char="•"/>
              <a:buFont typeface="Arial"/>
              <a:buChar char="•"/>
            </a:pPr>
            <a:r>
              <a:rPr sz="1800" b="0" i="0">
                <a:solidFill>
                  <a:srgbClr val="333333"/>
                </a:solidFill>
                <a:latin typeface="Calibri"/>
              </a:rPr>
              <a:t>Abstract</a:t>
            </a:r>
          </a:p>
          <a:p>
            <a:pPr marL="228600" indent="-228600">
              <a:spcAft>
                <a:spcPts val="600"/>
              </a:spcAft>
              <a:buFont typeface="Arial"/>
              <a:buChar char="•"/>
            </a:pPr>
            <a:r>
              <a:rPr sz="1800" b="0" i="0">
                <a:solidFill>
                  <a:srgbClr val="333333"/>
                </a:solidFill>
                <a:latin typeface="Calibri"/>
              </a:rPr>
              <a:t>Introduction</a:t>
            </a:r>
          </a:p>
          <a:p>
            <a:pPr marL="228600" indent="-228600">
              <a:spcAft>
                <a:spcPts val="600"/>
              </a:spcAft>
              <a:buFont typeface="Arial"/>
              <a:buChar char="•"/>
            </a:pPr>
            <a:r>
              <a:rPr sz="1800" b="0" i="0">
                <a:solidFill>
                  <a:srgbClr val="333333"/>
                </a:solidFill>
                <a:latin typeface="Calibri"/>
              </a:rPr>
              <a:t>Literature survey</a:t>
            </a:r>
          </a:p>
          <a:p>
            <a:pPr marL="228600" indent="-228600">
              <a:spcAft>
                <a:spcPts val="600"/>
              </a:spcAft>
              <a:buFont typeface="Arial"/>
              <a:buChar char="•"/>
            </a:pPr>
            <a:r>
              <a:rPr sz="1800" b="0" i="0">
                <a:solidFill>
                  <a:srgbClr val="333333"/>
                </a:solidFill>
                <a:latin typeface="Calibri"/>
              </a:rPr>
              <a:t>Problem Statement and Objectives</a:t>
            </a:r>
          </a:p>
          <a:p>
            <a:pPr marL="228600" indent="-228600">
              <a:spcAft>
                <a:spcPts val="600"/>
              </a:spcAft>
              <a:buFont typeface="Arial"/>
              <a:buChar char="•"/>
            </a:pPr>
            <a:r>
              <a:rPr sz="1800" b="0" i="0">
                <a:solidFill>
                  <a:srgbClr val="333333"/>
                </a:solidFill>
                <a:latin typeface="Calibri"/>
              </a:rPr>
              <a:t>Flow Chart</a:t>
            </a:r>
          </a:p>
          <a:p>
            <a:pPr marL="228600" indent="-228600">
              <a:spcAft>
                <a:spcPts val="600"/>
              </a:spcAft>
              <a:buFont typeface="Arial"/>
              <a:buChar char="•"/>
            </a:pPr>
            <a:r>
              <a:rPr sz="1800" b="0" i="0">
                <a:solidFill>
                  <a:srgbClr val="333333"/>
                </a:solidFill>
                <a:latin typeface="Calibri"/>
              </a:rPr>
              <a:t>Hardware and Software requirements</a:t>
            </a:r>
          </a:p>
          <a:p>
            <a:pPr marL="228600" indent="-228600">
              <a:spcAft>
                <a:spcPts val="600"/>
              </a:spcAft>
              <a:buFont typeface="Arial"/>
              <a:buChar char="•"/>
            </a:pPr>
            <a:r>
              <a:rPr sz="1800" b="0" i="0">
                <a:solidFill>
                  <a:srgbClr val="333333"/>
                </a:solidFill>
                <a:latin typeface="Calibri"/>
              </a:rPr>
              <a:t>Results</a:t>
            </a:r>
          </a:p>
          <a:p>
            <a:pPr marL="228600" indent="-228600">
              <a:spcAft>
                <a:spcPts val="600"/>
              </a:spcAft>
              <a:buFont typeface="Arial"/>
              <a:buChar char="•"/>
            </a:pPr>
            <a:r>
              <a:rPr sz="1800" b="0" i="0">
                <a:solidFill>
                  <a:srgbClr val="333333"/>
                </a:solidFill>
                <a:latin typeface="Calibri"/>
              </a:rPr>
              <a:t>Conclusion</a:t>
            </a:r>
          </a:p>
          <a:p>
            <a:pPr marL="228600" indent="-228600">
              <a:spcAft>
                <a:spcPts val="600"/>
              </a:spcAft>
              <a:buFont typeface="Arial"/>
              <a:buChar char="•"/>
            </a:pPr>
            <a:r>
              <a:rPr sz="1800" b="0" i="0">
                <a:solidFill>
                  <a:srgbClr val="333333"/>
                </a:solidFill>
                <a:latin typeface="Calibri"/>
              </a:rPr>
              <a:t>Future Scope</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p:cNvSpPr txBox="1"/>
          <p:nvPr/>
        </p:nvSpPr>
        <p:spPr>
          <a:xfrm>
            <a:off x="2950000" y="950000"/>
            <a:ext cx="8742000" cy="5200000"/>
          </a:xfrm>
          <a:prstGeom prst="rect">
            <a:avLst/>
          </a:prstGeom>
          <a:noFill/>
        </p:spPr>
        <p:txBody>
          <a:bodyPr wrap="square">
            <a:spAutoFit/>
          </a:bodyPr>
          <a:lstStyle/>
          <a:p>
            <a:pPr>
              <a:spcAft>
                <a:spcPts val="1400"/>
              </a:spcAft>
              <a:buNone/>
            </a:pPr>
            <a:r>
              <a:rPr sz="1600" b="0" i="0">
                <a:solidFill>
                  <a:srgbClr val="333333"/>
                </a:solidFill>
                <a:latin typeface="Calibri"/>
              </a:rPr>
              <a:t>Public Transit Planner is a data-driven system designed to optimize public transportation routes and timetables while considering fixed fleet and budget constraints. The system processes transit stop information, passenger demand, and travel-time data to create efficient and practical transit plans.</a:t>
            </a:r>
          </a:p>
          <a:p>
            <a:pPr>
              <a:spcAft>
                <a:spcPts val="600"/>
              </a:spcAft>
              <a:buNone/>
            </a:pPr>
            <a:r>
              <a:rPr sz="1600" b="0" i="0">
                <a:solidFill>
                  <a:srgbClr val="333333"/>
                </a:solidFill>
                <a:latin typeface="Calibri"/>
              </a:rPr>
              <a:t>Using graph-based routing and optimization techniques, the system aims to maximize route coverage while minimizing passenger travel time and operational costs. It also evaluates routes using metrics such as average waiting time, travel time, fleet utilization, route coverage, and operational expenses. Interactive reports and visualizations help compare different planning scenarios and support better transportation decisions.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p:cNvSpPr txBox="1"/>
          <p:nvPr/>
        </p:nvSpPr>
        <p:spPr>
          <a:xfrm>
            <a:off x="2950000" y="950000"/>
            <a:ext cx="8742000" cy="5200000"/>
          </a:xfrm>
          <a:prstGeom prst="rect">
            <a:avLst/>
          </a:prstGeom>
          <a:noFill/>
        </p:spPr>
        <p:txBody>
          <a:bodyPr wrap="square">
            <a:spAutoFit/>
          </a:bodyPr>
          <a:lstStyle/>
          <a:p>
            <a:pPr marL="228600" indent="-228600">
              <a:spcAft>
                <a:spcPts val="600"/>
              </a:spcAft>
              <a:buFont typeface="Arial"/>
              <a:buChar char="•"/>
            </a:pPr>
            <a:r>
              <a:rPr sz="1600" b="0" i="0">
                <a:solidFill>
                  <a:srgbClr val="333333"/>
                </a:solidFill>
                <a:latin typeface="Calibri"/>
              </a:rPr>
              <a:t>Public transportation involves complex route and timetable planning.</a:t>
            </a:r>
          </a:p>
          <a:p>
            <a:pPr marL="228600" indent="-228600">
              <a:spcAft>
                <a:spcPts val="600"/>
              </a:spcAft>
              <a:buFont typeface="Arial"/>
              <a:buChar char="•"/>
            </a:pPr>
            <a:r>
              <a:rPr sz="1600" b="0" i="0">
                <a:solidFill>
                  <a:srgbClr val="333333"/>
                </a:solidFill>
                <a:latin typeface="Calibri"/>
              </a:rPr>
              <a:t>Increasing passenger demand requires efficient allocation of buses and resources.</a:t>
            </a:r>
          </a:p>
          <a:p>
            <a:pPr marL="228600" indent="-228600">
              <a:spcAft>
                <a:spcPts val="600"/>
              </a:spcAft>
              <a:buFont typeface="Arial"/>
              <a:buChar char="•"/>
            </a:pPr>
            <a:r>
              <a:rPr sz="1600" b="0" i="0">
                <a:solidFill>
                  <a:srgbClr val="333333"/>
                </a:solidFill>
                <a:latin typeface="Calibri"/>
              </a:rPr>
              <a:t>Traditional planning can result in:</a:t>
            </a:r>
          </a:p>
          <a:p>
            <a:pPr lvl="1" marL="457200" indent="-228600">
              <a:spcAft>
                <a:spcPts val="600"/>
              </a:spcAft>
              <a:buFont typeface="Arial"/>
              <a:buChar char="•"/>
            </a:pPr>
            <a:r>
              <a:rPr sz="1500" b="0" i="0">
                <a:solidFill>
                  <a:srgbClr val="333333"/>
                </a:solidFill>
                <a:latin typeface="Calibri"/>
              </a:rPr>
              <a:t>Longer waiting times</a:t>
            </a:r>
          </a:p>
          <a:p>
            <a:pPr lvl="1" marL="457200" indent="-228600">
              <a:spcAft>
                <a:spcPts val="600"/>
              </a:spcAft>
              <a:buFont typeface="Arial"/>
              <a:buChar char="•"/>
            </a:pPr>
            <a:r>
              <a:rPr sz="1500" b="0" i="0">
                <a:solidFill>
                  <a:srgbClr val="333333"/>
                </a:solidFill>
                <a:latin typeface="Calibri"/>
              </a:rPr>
              <a:t>Inefficient routes</a:t>
            </a:r>
          </a:p>
          <a:p>
            <a:pPr lvl="1" marL="457200" indent="-228600">
              <a:spcAft>
                <a:spcPts val="600"/>
              </a:spcAft>
              <a:buFont typeface="Arial"/>
              <a:buChar char="•"/>
            </a:pPr>
            <a:r>
              <a:rPr sz="1500" b="0" i="0">
                <a:solidFill>
                  <a:srgbClr val="333333"/>
                </a:solidFill>
                <a:latin typeface="Calibri"/>
              </a:rPr>
              <a:t>Poor fleet utilization</a:t>
            </a:r>
          </a:p>
          <a:p>
            <a:pPr lvl="1" marL="457200" indent="-228600">
              <a:spcAft>
                <a:spcPts val="600"/>
              </a:spcAft>
              <a:buFont typeface="Arial"/>
              <a:buChar char="•"/>
            </a:pPr>
            <a:r>
              <a:rPr sz="1500" b="0" i="0">
                <a:solidFill>
                  <a:srgbClr val="333333"/>
                </a:solidFill>
                <a:latin typeface="Calibri"/>
              </a:rPr>
              <a:t>Higher operational costs</a:t>
            </a:r>
          </a:p>
          <a:p>
            <a:pPr marL="228600" indent="-228600">
              <a:spcAft>
                <a:spcPts val="600"/>
              </a:spcAft>
              <a:buFont typeface="Arial"/>
              <a:buChar char="•"/>
            </a:pPr>
            <a:r>
              <a:rPr sz="1600" b="0" i="0">
                <a:solidFill>
                  <a:srgbClr val="333333"/>
                </a:solidFill>
                <a:latin typeface="Calibri"/>
              </a:rPr>
              <a:t>The proposed system uses Data Structures, Algorithms, and Data Analytics to improve transit planning.</a:t>
            </a:r>
          </a:p>
          <a:p>
            <a:pPr marL="228600" indent="-228600">
              <a:spcAft>
                <a:spcPts val="600"/>
              </a:spcAft>
              <a:buFont typeface="Arial"/>
              <a:buChar char="•"/>
            </a:pPr>
            <a:r>
              <a:rPr sz="1600" b="0" i="0">
                <a:solidFill>
                  <a:srgbClr val="333333"/>
                </a:solidFill>
                <a:latin typeface="Calibri"/>
              </a:rPr>
              <a:t>It provides a data-driven approach for selecting efficient routes and schedules.</a:t>
            </a:r>
          </a:p>
          <a:p>
            <a:pPr marL="228600" indent="-228600">
              <a:spcAft>
                <a:spcPts val="600"/>
              </a:spcAft>
              <a:buFont typeface="Arial"/>
              <a:buChar char="•"/>
            </a:pPr>
            <a:r>
              <a:rPr sz="1600" b="1" i="0">
                <a:solidFill>
                  <a:srgbClr val="333333"/>
                </a:solidFill>
                <a:latin typeface="Calibri"/>
              </a:rPr>
              <a:t>Key idea: Optimize routes and timetables while balancing passenger needs, fleet availability, and operating costs.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p:cNvGraphicFramePr>
            <a:graphicFrameLocks noGrp="1"/>
          </p:cNvGraphicFramePr>
          <p:nvPr/>
        </p:nvGraphicFramePr>
        <p:xfrm>
          <a:off x="2950000" y="950000"/>
          <a:ext cx="8742000" cy="2550000"/>
        </p:xfrm>
        <a:graphic>
          <a:graphicData uri="http://schemas.openxmlformats.org/drawingml/2006/table">
            <a:tbl>
              <a:tblPr firstRow="1" bandRow="1">
                <a:tableStyleId>{5C22544A-7EE6-4342-B048-85BDC9FD1C3A}</a:tableStyleId>
              </a:tblPr>
              <a:tblGrid>
                <a:gridCol w="2500000"/>
                <a:gridCol w="3300000"/>
                <a:gridCol w="2942000"/>
              </a:tblGrid>
              <a:tr h="425000">
                <a:tc>
                  <a:txBody>
                    <a:bodyPr/>
                    <a:lstStyle/>
                    <a:p>
                      <a:r>
                        <a:rPr sz="1300" b="1">
                          <a:solidFill>
                            <a:srgbClr val="FFFFFF"/>
                          </a:solidFill>
                          <a:latin typeface="Calibri"/>
                        </a:rPr>
                        <a:t>Existing Approach</a:t>
                      </a:r>
                    </a:p>
                  </a:txBody>
                  <a:tcPr anchor="ctr">
                    <a:solidFill>
                      <a:srgbClr val="C00000"/>
                    </a:solidFill>
                  </a:tcPr>
                </a:tc>
                <a:tc>
                  <a:txBody>
                    <a:bodyPr/>
                    <a:lstStyle/>
                    <a:p>
                      <a:r>
                        <a:rPr sz="1300" b="1">
                          <a:solidFill>
                            <a:srgbClr val="FFFFFF"/>
                          </a:solidFill>
                          <a:latin typeface="Calibri"/>
                        </a:rPr>
                        <a:t>Technique Used</a:t>
                      </a:r>
                    </a:p>
                  </a:txBody>
                  <a:tcPr anchor="ctr">
                    <a:solidFill>
                      <a:srgbClr val="C00000"/>
                    </a:solidFill>
                  </a:tcPr>
                </a:tc>
                <a:tc>
                  <a:txBody>
                    <a:bodyPr/>
                    <a:lstStyle/>
                    <a:p>
                      <a:r>
                        <a:rPr sz="1300" b="1">
                          <a:solidFill>
                            <a:srgbClr val="FFFFFF"/>
                          </a:solidFill>
                          <a:latin typeface="Calibri"/>
                        </a:rPr>
                        <a:t>Limitation</a:t>
                      </a:r>
                    </a:p>
                  </a:txBody>
                  <a:tcPr anchor="ctr">
                    <a:solidFill>
                      <a:srgbClr val="C00000"/>
                    </a:solidFill>
                  </a:tcPr>
                </a:tc>
              </a:tr>
              <a:tr h="425000">
                <a:tc>
                  <a:txBody>
                    <a:bodyPr/>
                    <a:lstStyle/>
                    <a:p>
                      <a:r>
                        <a:rPr sz="1200" b="0">
                          <a:solidFill>
                            <a:srgbClr val="333333"/>
                          </a:solidFill>
                          <a:latin typeface="Calibri"/>
                        </a:rPr>
                        <a:t>Traditional Transit Planning</a:t>
                      </a:r>
                    </a:p>
                  </a:txBody>
                  <a:tcPr anchor="ctr">
                    <a:solidFill>
                      <a:srgbClr val="F7EFEC"/>
                    </a:solidFill>
                  </a:tcPr>
                </a:tc>
                <a:tc>
                  <a:txBody>
                    <a:bodyPr/>
                    <a:lstStyle/>
                    <a:p>
                      <a:r>
                        <a:rPr sz="1200" b="0">
                          <a:solidFill>
                            <a:srgbClr val="333333"/>
                          </a:solidFill>
                          <a:latin typeface="Calibri"/>
                        </a:rPr>
                        <a:t>Manual route &amp; timetable planning</a:t>
                      </a:r>
                    </a:p>
                  </a:txBody>
                  <a:tcPr anchor="ctr">
                    <a:solidFill>
                      <a:srgbClr val="F7EFEC"/>
                    </a:solidFill>
                  </a:tcPr>
                </a:tc>
                <a:tc>
                  <a:txBody>
                    <a:bodyPr/>
                    <a:lstStyle/>
                    <a:p>
                      <a:r>
                        <a:rPr sz="1200" b="0">
                          <a:solidFill>
                            <a:srgbClr val="333333"/>
                          </a:solidFill>
                          <a:latin typeface="Calibri"/>
                        </a:rPr>
                        <a:t>Time-consuming</a:t>
                      </a:r>
                    </a:p>
                  </a:txBody>
                  <a:tcPr anchor="ctr">
                    <a:solidFill>
                      <a:srgbClr val="F7EFEC"/>
                    </a:solidFill>
                  </a:tcPr>
                </a:tc>
              </a:tr>
              <a:tr h="425000">
                <a:tc>
                  <a:txBody>
                    <a:bodyPr/>
                    <a:lstStyle/>
                    <a:p>
                      <a:r>
                        <a:rPr sz="1200" b="0">
                          <a:solidFill>
                            <a:srgbClr val="333333"/>
                          </a:solidFill>
                          <a:latin typeface="Calibri"/>
                        </a:rPr>
                        <a:t>Shortest Path Systems</a:t>
                      </a:r>
                    </a:p>
                  </a:txBody>
                  <a:tcPr anchor="ctr">
                    <a:solidFill>
                      <a:srgbClr val="FFFFFF"/>
                    </a:solidFill>
                  </a:tcPr>
                </a:tc>
                <a:tc>
                  <a:txBody>
                    <a:bodyPr/>
                    <a:lstStyle/>
                    <a:p>
                      <a:r>
                        <a:rPr sz="1200" b="0">
                          <a:solidFill>
                            <a:srgbClr val="333333"/>
                          </a:solidFill>
                          <a:latin typeface="Calibri"/>
                        </a:rPr>
                        <a:t>Graph algorithms</a:t>
                      </a:r>
                    </a:p>
                  </a:txBody>
                  <a:tcPr anchor="ctr">
                    <a:solidFill>
                      <a:srgbClr val="FFFFFF"/>
                    </a:solidFill>
                  </a:tcPr>
                </a:tc>
                <a:tc>
                  <a:txBody>
                    <a:bodyPr/>
                    <a:lstStyle/>
                    <a:p>
                      <a:r>
                        <a:rPr sz="1200" b="0">
                          <a:solidFill>
                            <a:srgbClr val="333333"/>
                          </a:solidFill>
                          <a:latin typeface="Calibri"/>
                        </a:rPr>
                        <a:t>Mainly focuses on travel distance/time</a:t>
                      </a:r>
                    </a:p>
                  </a:txBody>
                  <a:tcPr anchor="ctr">
                    <a:solidFill>
                      <a:srgbClr val="FFFFFF"/>
                    </a:solidFill>
                  </a:tcPr>
                </a:tc>
              </a:tr>
              <a:tr h="425000">
                <a:tc>
                  <a:txBody>
                    <a:bodyPr/>
                    <a:lstStyle/>
                    <a:p>
                      <a:r>
                        <a:rPr sz="1200" b="0">
                          <a:solidFill>
                            <a:srgbClr val="333333"/>
                          </a:solidFill>
                          <a:latin typeface="Calibri"/>
                        </a:rPr>
                        <a:t>Demand-Based Planning</a:t>
                      </a:r>
                    </a:p>
                  </a:txBody>
                  <a:tcPr anchor="ctr">
                    <a:solidFill>
                      <a:srgbClr val="F7EFEC"/>
                    </a:solidFill>
                  </a:tcPr>
                </a:tc>
                <a:tc>
                  <a:txBody>
                    <a:bodyPr/>
                    <a:lstStyle/>
                    <a:p>
                      <a:r>
                        <a:rPr sz="1200" b="0">
                          <a:solidFill>
                            <a:srgbClr val="333333"/>
                          </a:solidFill>
                          <a:latin typeface="Calibri"/>
                        </a:rPr>
                        <a:t>Passenger demand analysis</a:t>
                      </a:r>
                    </a:p>
                  </a:txBody>
                  <a:tcPr anchor="ctr">
                    <a:solidFill>
                      <a:srgbClr val="F7EFEC"/>
                    </a:solidFill>
                  </a:tcPr>
                </a:tc>
                <a:tc>
                  <a:txBody>
                    <a:bodyPr/>
                    <a:lstStyle/>
                    <a:p>
                      <a:r>
                        <a:rPr sz="1200" b="0">
                          <a:solidFill>
                            <a:srgbClr val="333333"/>
                          </a:solidFill>
                          <a:latin typeface="Calibri"/>
                        </a:rPr>
                        <a:t>May not consider fleet constraints</a:t>
                      </a:r>
                    </a:p>
                  </a:txBody>
                  <a:tcPr anchor="ctr">
                    <a:solidFill>
                      <a:srgbClr val="F7EFEC"/>
                    </a:solidFill>
                  </a:tcPr>
                </a:tc>
              </a:tr>
              <a:tr h="425000">
                <a:tc>
                  <a:txBody>
                    <a:bodyPr/>
                    <a:lstStyle/>
                    <a:p>
                      <a:r>
                        <a:rPr sz="1200" b="0">
                          <a:solidFill>
                            <a:srgbClr val="333333"/>
                          </a:solidFill>
                          <a:latin typeface="Calibri"/>
                        </a:rPr>
                        <a:t>Optimization-Based Planning</a:t>
                      </a:r>
                    </a:p>
                  </a:txBody>
                  <a:tcPr anchor="ctr">
                    <a:solidFill>
                      <a:srgbClr val="FFFFFF"/>
                    </a:solidFill>
                  </a:tcPr>
                </a:tc>
                <a:tc>
                  <a:txBody>
                    <a:bodyPr/>
                    <a:lstStyle/>
                    <a:p>
                      <a:r>
                        <a:rPr sz="1200" b="0">
                          <a:solidFill>
                            <a:srgbClr val="333333"/>
                          </a:solidFill>
                          <a:latin typeface="Calibri"/>
                        </a:rPr>
                        <a:t>Optimization algorithms</a:t>
                      </a:r>
                    </a:p>
                  </a:txBody>
                  <a:tcPr anchor="ctr">
                    <a:solidFill>
                      <a:srgbClr val="FFFFFF"/>
                    </a:solidFill>
                  </a:tcPr>
                </a:tc>
                <a:tc>
                  <a:txBody>
                    <a:bodyPr/>
                    <a:lstStyle/>
                    <a:p>
                      <a:r>
                        <a:rPr sz="1200" b="0">
                          <a:solidFill>
                            <a:srgbClr val="333333"/>
                          </a:solidFill>
                          <a:latin typeface="Calibri"/>
                        </a:rPr>
                        <a:t>Can be computationally complex</a:t>
                      </a:r>
                    </a:p>
                  </a:txBody>
                  <a:tcPr anchor="ctr">
                    <a:solidFill>
                      <a:srgbClr val="FFFFFF"/>
                    </a:solidFill>
                  </a:tcPr>
                </a:tc>
              </a:tr>
              <a:tr h="425000">
                <a:tc>
                  <a:txBody>
                    <a:bodyPr/>
                    <a:lstStyle/>
                    <a:p>
                      <a:r>
                        <a:rPr sz="1200" b="0">
                          <a:solidFill>
                            <a:srgbClr val="333333"/>
                          </a:solidFill>
                          <a:latin typeface="Calibri"/>
                        </a:rPr>
                        <a:t>Proposed System</a:t>
                      </a:r>
                    </a:p>
                  </a:txBody>
                  <a:tcPr anchor="ctr">
                    <a:solidFill>
                      <a:srgbClr val="F7EFEC"/>
                    </a:solidFill>
                  </a:tcPr>
                </a:tc>
                <a:tc>
                  <a:txBody>
                    <a:bodyPr/>
                    <a:lstStyle/>
                    <a:p>
                      <a:r>
                        <a:rPr sz="1200" b="0">
                          <a:solidFill>
                            <a:srgbClr val="333333"/>
                          </a:solidFill>
                          <a:latin typeface="Calibri"/>
                        </a:rPr>
                        <a:t>Graph + Optimization + Analytics</a:t>
                      </a:r>
                    </a:p>
                  </a:txBody>
                  <a:tcPr anchor="ctr">
                    <a:solidFill>
                      <a:srgbClr val="F7EFEC"/>
                    </a:solidFill>
                  </a:tcPr>
                </a:tc>
                <a:tc>
                  <a:txBody>
                    <a:bodyPr/>
                    <a:lstStyle/>
                    <a:p>
                      <a:r>
                        <a:rPr sz="1200" b="0">
                          <a:solidFill>
                            <a:srgbClr val="333333"/>
                          </a:solidFill>
                          <a:latin typeface="Calibri"/>
                        </a:rPr>
                        <a:t>Considers multiple planning constraints</a:t>
                      </a:r>
                    </a:p>
                  </a:txBody>
                  <a:tcPr anchor="ctr">
                    <a:solidFill>
                      <a:srgbClr val="F7EFEC"/>
                    </a:solidFill>
                  </a:tcPr>
                </a:tc>
              </a:tr>
            </a:tbl>
          </a:graphicData>
        </a:graphic>
      </p:graphicFrame>
      <p:sp>
        <p:nvSpPr>
          <p:cNvPr id="5" name="TextBox 4"/>
          <p:cNvSpPr txBox="1"/>
          <p:nvPr/>
        </p:nvSpPr>
        <p:spPr>
          <a:xfrm>
            <a:off x="2950000" y="3650000"/>
            <a:ext cx="8742000" cy="2450000"/>
          </a:xfrm>
          <a:prstGeom prst="rect">
            <a:avLst/>
          </a:prstGeom>
          <a:noFill/>
        </p:spPr>
        <p:txBody>
          <a:bodyPr wrap="square">
            <a:spAutoFit/>
          </a:bodyPr>
          <a:lstStyle/>
          <a:p>
            <a:pPr marL="228600" indent="-228600">
              <a:spcAft>
                <a:spcPts val="600"/>
              </a:spcAft>
              <a:buFont typeface="Arial"/>
              <a:buChar char="•"/>
            </a:pPr>
            <a:r>
              <a:rPr sz="1600" b="1" i="0">
                <a:solidFill>
                  <a:srgbClr val="333333"/>
                </a:solidFill>
                <a:latin typeface="Calibri"/>
              </a:rPr>
              <a:t>Research Gap</a:t>
            </a:r>
          </a:p>
          <a:p>
            <a:pPr lvl="1" marL="457200" indent="-228600">
              <a:spcAft>
                <a:spcPts val="600"/>
              </a:spcAft>
              <a:buFont typeface="Arial"/>
              <a:buChar char="•"/>
            </a:pPr>
            <a:r>
              <a:rPr sz="1400" b="0" i="0">
                <a:solidFill>
                  <a:srgbClr val="333333"/>
                </a:solidFill>
                <a:latin typeface="Calibri"/>
              </a:rPr>
              <a:t>Existing approaches may focus on only one factor such as distance or travel time.</a:t>
            </a:r>
          </a:p>
          <a:p>
            <a:pPr lvl="1" marL="457200" indent="-228600">
              <a:spcAft>
                <a:spcPts val="600"/>
              </a:spcAft>
              <a:buFont typeface="Arial"/>
              <a:buChar char="•"/>
            </a:pPr>
            <a:r>
              <a:rPr sz="1400" b="0" i="0">
                <a:solidFill>
                  <a:srgbClr val="333333"/>
                </a:solidFill>
                <a:latin typeface="Calibri"/>
              </a:rPr>
              <a:t>There is a need to consider route coverage, passenger demand, fleet availability, and operational cost together.</a:t>
            </a:r>
          </a:p>
          <a:p>
            <a:pPr lvl="1" marL="457200" indent="-228600">
              <a:spcAft>
                <a:spcPts val="600"/>
              </a:spcAft>
              <a:buFont typeface="Arial"/>
              <a:buChar char="•"/>
            </a:pPr>
            <a:r>
              <a:rPr sz="1400" b="0" i="0">
                <a:solidFill>
                  <a:srgbClr val="333333"/>
                </a:solidFill>
                <a:latin typeface="Calibri"/>
              </a:rPr>
              <a:t>The proposed planner combines these factors to support better decision-making.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p:cNvSpPr txBox="1"/>
          <p:nvPr/>
        </p:nvSpPr>
        <p:spPr>
          <a:xfrm>
            <a:off x="2950000" y="950000"/>
            <a:ext cx="8742000" cy="5200000"/>
          </a:xfrm>
          <a:prstGeom prst="rect">
            <a:avLst/>
          </a:prstGeom>
          <a:noFill/>
        </p:spPr>
        <p:txBody>
          <a:bodyPr wrap="square">
            <a:spAutoFit/>
          </a:bodyPr>
          <a:lstStyle/>
          <a:p>
            <a:pPr marL="228600" indent="-228600">
              <a:spcAft>
                <a:spcPts val="600"/>
              </a:spcAft>
              <a:buFont typeface="Arial"/>
              <a:buChar char="•"/>
            </a:pPr>
            <a:r>
              <a:rPr sz="1700" b="1" i="0">
                <a:solidFill>
                  <a:srgbClr val="333333"/>
                </a:solidFill>
                <a:latin typeface="Calibri"/>
              </a:rPr>
              <a:t>Problem Statement</a:t>
            </a:r>
          </a:p>
          <a:p>
            <a:pPr lvl="1" marL="457200" indent="-228600">
              <a:spcAft>
                <a:spcPts val="600"/>
              </a:spcAft>
              <a:buFont typeface="Arial"/>
              <a:buChar char="•"/>
            </a:pPr>
            <a:r>
              <a:rPr sz="1400" b="0" i="0">
                <a:solidFill>
                  <a:srgbClr val="333333"/>
                </a:solidFill>
                <a:latin typeface="Calibri"/>
              </a:rPr>
              <a:t>Public transportation systems need to provide adequate route coverage and efficient schedules while operating with limited vehicles and budgets. Poor route planning can increase passenger waiting time, travel time, and operating expenses.</a:t>
            </a:r>
          </a:p>
          <a:p>
            <a:pPr marL="228600" indent="-228600">
              <a:spcAft>
                <a:spcPts val="600"/>
              </a:spcAft>
              <a:buFont typeface="Arial"/>
              <a:buChar char="•"/>
            </a:pPr>
            <a:r>
              <a:rPr sz="1700" b="1" i="0">
                <a:solidFill>
                  <a:srgbClr val="333333"/>
                </a:solidFill>
                <a:latin typeface="Calibri"/>
              </a:rPr>
              <a:t>Objectives</a:t>
            </a:r>
          </a:p>
          <a:p>
            <a:pPr lvl="1" marL="457200" indent="-228600">
              <a:spcAft>
                <a:spcPts val="600"/>
              </a:spcAft>
              <a:buFont typeface="Arial"/>
              <a:buChar char="•"/>
            </a:pPr>
            <a:r>
              <a:rPr sz="1400" b="0" i="0">
                <a:solidFill>
                  <a:srgbClr val="333333"/>
                </a:solidFill>
                <a:latin typeface="Calibri"/>
              </a:rPr>
              <a:t>Collect and clean transit-related data.</a:t>
            </a:r>
          </a:p>
          <a:p>
            <a:pPr lvl="1" marL="457200" indent="-228600">
              <a:spcAft>
                <a:spcPts val="600"/>
              </a:spcAft>
              <a:buFont typeface="Arial"/>
              <a:buChar char="•"/>
            </a:pPr>
            <a:r>
              <a:rPr sz="1400" b="0" i="0">
                <a:solidFill>
                  <a:srgbClr val="333333"/>
                </a:solidFill>
                <a:latin typeface="Calibri"/>
              </a:rPr>
              <a:t>Represent transit networks using graphs.</a:t>
            </a:r>
          </a:p>
          <a:p>
            <a:pPr lvl="1" marL="457200" indent="-228600">
              <a:spcAft>
                <a:spcPts val="600"/>
              </a:spcAft>
              <a:buFont typeface="Arial"/>
              <a:buChar char="•"/>
            </a:pPr>
            <a:r>
              <a:rPr sz="1400" b="0" i="0">
                <a:solidFill>
                  <a:srgbClr val="333333"/>
                </a:solidFill>
                <a:latin typeface="Calibri"/>
              </a:rPr>
              <a:t>Identify efficient transportation routes.</a:t>
            </a:r>
          </a:p>
          <a:p>
            <a:pPr lvl="1" marL="457200" indent="-228600">
              <a:spcAft>
                <a:spcPts val="600"/>
              </a:spcAft>
              <a:buFont typeface="Arial"/>
              <a:buChar char="•"/>
            </a:pPr>
            <a:r>
              <a:rPr sz="1400" b="0" i="0">
                <a:solidFill>
                  <a:srgbClr val="333333"/>
                </a:solidFill>
                <a:latin typeface="Calibri"/>
              </a:rPr>
              <a:t>Maximize route and service coverage.</a:t>
            </a:r>
          </a:p>
          <a:p>
            <a:pPr lvl="1" marL="457200" indent="-228600">
              <a:spcAft>
                <a:spcPts val="600"/>
              </a:spcAft>
              <a:buFont typeface="Arial"/>
              <a:buChar char="•"/>
            </a:pPr>
            <a:r>
              <a:rPr sz="1400" b="0" i="0">
                <a:solidFill>
                  <a:srgbClr val="333333"/>
                </a:solidFill>
                <a:latin typeface="Calibri"/>
              </a:rPr>
              <a:t>Minimize passenger travel and waiting time.</a:t>
            </a:r>
          </a:p>
          <a:p>
            <a:pPr lvl="1" marL="457200" indent="-228600">
              <a:spcAft>
                <a:spcPts val="600"/>
              </a:spcAft>
              <a:buFont typeface="Arial"/>
              <a:buChar char="•"/>
            </a:pPr>
            <a:r>
              <a:rPr sz="1400" b="0" i="0">
                <a:solidFill>
                  <a:srgbClr val="333333"/>
                </a:solidFill>
                <a:latin typeface="Calibri"/>
              </a:rPr>
              <a:t>Optimize fleet utilization.</a:t>
            </a:r>
          </a:p>
          <a:p>
            <a:pPr lvl="1" marL="457200" indent="-228600">
              <a:spcAft>
                <a:spcPts val="600"/>
              </a:spcAft>
              <a:buFont typeface="Arial"/>
              <a:buChar char="•"/>
            </a:pPr>
            <a:r>
              <a:rPr sz="1400" b="0" i="0">
                <a:solidFill>
                  <a:srgbClr val="333333"/>
                </a:solidFill>
                <a:latin typeface="Calibri"/>
              </a:rPr>
              <a:t>Generate practical timetables.</a:t>
            </a:r>
          </a:p>
          <a:p>
            <a:pPr lvl="1" marL="457200" indent="-228600">
              <a:spcAft>
                <a:spcPts val="600"/>
              </a:spcAft>
              <a:buFont typeface="Arial"/>
              <a:buChar char="•"/>
            </a:pPr>
            <a:r>
              <a:rPr sz="1400" b="0" i="0">
                <a:solidFill>
                  <a:srgbClr val="333333"/>
                </a:solidFill>
                <a:latin typeface="Calibri"/>
              </a:rPr>
              <a:t>Reduce operational expenses.</a:t>
            </a:r>
          </a:p>
          <a:p>
            <a:pPr lvl="1" marL="457200" indent="-228600">
              <a:spcAft>
                <a:spcPts val="600"/>
              </a:spcAft>
              <a:buFont typeface="Arial"/>
              <a:buChar char="•"/>
            </a:pPr>
            <a:r>
              <a:rPr sz="1400" b="0" i="0">
                <a:solidFill>
                  <a:srgbClr val="333333"/>
                </a:solidFill>
                <a:latin typeface="Calibri"/>
              </a:rPr>
              <a:t>Compare different planning scenarios through visualizations.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Rounded Rectangle 3"/>
          <p:cNvSpPr/>
          <p:nvPr/>
        </p:nvSpPr>
        <p:spPr>
          <a:xfrm>
            <a:off x="1576000" y="2650000"/>
            <a:ext cx="2050000" cy="950000"/>
          </a:xfrm>
          <a:prstGeom prst="roundRect">
            <a:avLst/>
          </a:prstGeom>
          <a:solidFill>
            <a:srgbClr val="C00000"/>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Collect Transit</a:t>
            </a:r>
          </a:p>
          <a:p>
            <a:pPr algn="ctr"/>
            <a:r>
              <a:rPr sz="1400" b="1">
                <a:solidFill>
                  <a:srgbClr val="FFFFFF"/>
                </a:solidFill>
                <a:latin typeface="Calibri"/>
              </a:rPr>
              <a:t>Data</a:t>
            </a:r>
          </a:p>
        </p:txBody>
      </p:sp>
      <p:sp>
        <p:nvSpPr>
          <p:cNvPr id="5" name="Rounded Rectangle 4"/>
          <p:cNvSpPr/>
          <p:nvPr/>
        </p:nvSpPr>
        <p:spPr>
          <a:xfrm>
            <a:off x="3906000" y="2650000"/>
            <a:ext cx="2050000" cy="950000"/>
          </a:xfrm>
          <a:prstGeom prst="roundRect">
            <a:avLst/>
          </a:prstGeom>
          <a:solidFill>
            <a:srgbClr val="C00000"/>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Model Network</a:t>
            </a:r>
          </a:p>
          <a:p>
            <a:pPr algn="ctr"/>
            <a:r>
              <a:rPr sz="1400" b="1">
                <a:solidFill>
                  <a:srgbClr val="FFFFFF"/>
                </a:solidFill>
                <a:latin typeface="Calibri"/>
              </a:rPr>
              <a:t>as Graph</a:t>
            </a:r>
          </a:p>
        </p:txBody>
      </p:sp>
      <p:sp>
        <p:nvSpPr>
          <p:cNvPr id="6" name="Rounded Rectangle 5"/>
          <p:cNvSpPr/>
          <p:nvPr/>
        </p:nvSpPr>
        <p:spPr>
          <a:xfrm>
            <a:off x="6236000" y="2650000"/>
            <a:ext cx="2050000" cy="950000"/>
          </a:xfrm>
          <a:prstGeom prst="roundRect">
            <a:avLst/>
          </a:prstGeom>
          <a:solidFill>
            <a:srgbClr val="C00000"/>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Optimize Routes</a:t>
            </a:r>
          </a:p>
          <a:p>
            <a:pPr algn="ctr"/>
            <a:r>
              <a:rPr sz="1400" b="1">
                <a:solidFill>
                  <a:srgbClr val="FFFFFF"/>
                </a:solidFill>
                <a:latin typeface="Calibri"/>
              </a:rPr>
              <a:t>&amp; Timetables</a:t>
            </a:r>
          </a:p>
        </p:txBody>
      </p:sp>
      <p:sp>
        <p:nvSpPr>
          <p:cNvPr id="7" name="Rounded Rectangle 6"/>
          <p:cNvSpPr/>
          <p:nvPr/>
        </p:nvSpPr>
        <p:spPr>
          <a:xfrm>
            <a:off x="8566000" y="2650000"/>
            <a:ext cx="2050000" cy="950000"/>
          </a:xfrm>
          <a:prstGeom prst="roundRect">
            <a:avLst/>
          </a:prstGeom>
          <a:solidFill>
            <a:srgbClr val="C00000"/>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Evaluate &amp;</a:t>
            </a:r>
          </a:p>
          <a:p>
            <a:pPr algn="ctr"/>
            <a:r>
              <a:rPr sz="1400" b="1">
                <a:solidFill>
                  <a:srgbClr val="FFFFFF"/>
                </a:solidFill>
                <a:latin typeface="Calibri"/>
              </a:rPr>
              <a:t>Visualize Results</a:t>
            </a:r>
          </a:p>
        </p:txBody>
      </p:sp>
      <p:sp>
        <p:nvSpPr>
          <p:cNvPr id="8" name="Right Arrow 7"/>
          <p:cNvSpPr/>
          <p:nvPr/>
        </p:nvSpPr>
        <p:spPr>
          <a:xfrm>
            <a:off x="3626000" y="2975000"/>
            <a:ext cx="280000" cy="300000"/>
          </a:xfrm>
          <a:prstGeom prst="rightArrow">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5956000" y="2975000"/>
            <a:ext cx="280000" cy="300000"/>
          </a:xfrm>
          <a:prstGeom prst="rightArrow">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286000" y="2975000"/>
            <a:ext cx="280000" cy="300000"/>
          </a:xfrm>
          <a:prstGeom prst="rightArrow">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50000" y="4100000"/>
            <a:ext cx="8742000" cy="1500000"/>
          </a:xfrm>
          <a:prstGeom prst="rect">
            <a:avLst/>
          </a:prstGeom>
          <a:noFill/>
        </p:spPr>
        <p:txBody>
          <a:bodyPr wrap="square">
            <a:spAutoFit/>
          </a:bodyPr>
          <a:lstStyle/>
          <a:p>
            <a:pPr marL="228600" indent="-228600">
              <a:spcAft>
                <a:spcPts val="600"/>
              </a:spcAft>
              <a:buFont typeface="Arial"/>
              <a:buChar char="•"/>
            </a:pPr>
            <a:r>
              <a:rPr sz="1500" b="0" i="0">
                <a:solidFill>
                  <a:srgbClr val="333333"/>
                </a:solidFill>
                <a:latin typeface="Calibri"/>
              </a:rPr>
              <a:t>The system follows a four-stage pipeline: data is gathered from transit stops and passenger demand records, represented as a graph of the transit network, processed through route and timetable optimization, and finally evaluated through reports and visualizations for comparison.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p:cNvSpPr txBox="1"/>
          <p:nvPr/>
        </p:nvSpPr>
        <p:spPr>
          <a:xfrm>
            <a:off x="2950000" y="950000"/>
            <a:ext cx="8742000" cy="5200000"/>
          </a:xfrm>
          <a:prstGeom prst="rect">
            <a:avLst/>
          </a:prstGeom>
          <a:noFill/>
        </p:spPr>
        <p:txBody>
          <a:bodyPr wrap="square">
            <a:spAutoFit/>
          </a:bodyPr>
          <a:lstStyle/>
          <a:p>
            <a:pPr marL="228600" indent="-228600">
              <a:spcAft>
                <a:spcPts val="600"/>
              </a:spcAft>
              <a:buFont typeface="Arial"/>
              <a:buChar char="•"/>
            </a:pPr>
            <a:r>
              <a:rPr sz="1600" b="1" i="0">
                <a:solidFill>
                  <a:srgbClr val="333333"/>
                </a:solidFill>
                <a:latin typeface="Calibri"/>
              </a:rPr>
              <a:t>Expected / Obtained Results</a:t>
            </a:r>
          </a:p>
          <a:p>
            <a:pPr marL="228600" indent="-228600">
              <a:spcAft>
                <a:spcPts val="600"/>
              </a:spcAft>
              <a:buFont typeface="Arial"/>
              <a:buChar char="•"/>
            </a:pPr>
            <a:r>
              <a:rPr sz="1500" b="0" i="0">
                <a:solidFill>
                  <a:srgbClr val="333333"/>
                </a:solidFill>
                <a:latin typeface="Calibri"/>
              </a:rPr>
              <a:t>The system evaluates transit planning using several important metrics:</a:t>
            </a:r>
          </a:p>
          <a:p>
            <a:pPr lvl="1" marL="457200" indent="-228600">
              <a:spcAft>
                <a:spcPts val="600"/>
              </a:spcAft>
              <a:buFont typeface="Arial"/>
              <a:buChar char="•"/>
            </a:pPr>
            <a:r>
              <a:rPr sz="1400" b="0" i="0">
                <a:solidFill>
                  <a:srgbClr val="333333"/>
                </a:solidFill>
                <a:latin typeface="Calibri"/>
              </a:rPr>
              <a:t>Route Coverage – Percentage of required areas/stops served.</a:t>
            </a:r>
          </a:p>
          <a:p>
            <a:pPr lvl="1" marL="457200" indent="-228600">
              <a:spcAft>
                <a:spcPts val="600"/>
              </a:spcAft>
              <a:buFont typeface="Arial"/>
              <a:buChar char="•"/>
            </a:pPr>
            <a:r>
              <a:rPr sz="1400" b="0" i="0">
                <a:solidFill>
                  <a:srgbClr val="333333"/>
                </a:solidFill>
                <a:latin typeface="Calibri"/>
              </a:rPr>
              <a:t>Average Waiting Time – Average time passengers wait for service.</a:t>
            </a:r>
          </a:p>
          <a:p>
            <a:pPr lvl="1" marL="457200" indent="-228600">
              <a:spcAft>
                <a:spcPts val="600"/>
              </a:spcAft>
              <a:buFont typeface="Arial"/>
              <a:buChar char="•"/>
            </a:pPr>
            <a:r>
              <a:rPr sz="1400" b="0" i="0">
                <a:solidFill>
                  <a:srgbClr val="333333"/>
                </a:solidFill>
                <a:latin typeface="Calibri"/>
              </a:rPr>
              <a:t>Travel Time – Time required to reach destinations.</a:t>
            </a:r>
          </a:p>
          <a:p>
            <a:pPr lvl="1" marL="457200" indent="-228600">
              <a:spcAft>
                <a:spcPts val="600"/>
              </a:spcAft>
              <a:buFont typeface="Arial"/>
              <a:buChar char="•"/>
            </a:pPr>
            <a:r>
              <a:rPr sz="1400" b="0" i="0">
                <a:solidFill>
                  <a:srgbClr val="333333"/>
                </a:solidFill>
                <a:latin typeface="Calibri"/>
              </a:rPr>
              <a:t>Fleet Utilization – How efficiently available vehicles are used.</a:t>
            </a:r>
          </a:p>
          <a:p>
            <a:pPr lvl="1" marL="457200" indent="-228600">
              <a:spcAft>
                <a:spcPts val="600"/>
              </a:spcAft>
              <a:buFont typeface="Arial"/>
              <a:buChar char="•"/>
            </a:pPr>
            <a:r>
              <a:rPr sz="1400" b="0" i="0">
                <a:solidFill>
                  <a:srgbClr val="333333"/>
                </a:solidFill>
                <a:latin typeface="Calibri"/>
              </a:rPr>
              <a:t>Operational Expenses – Cost associated with running the selected routes.</a:t>
            </a:r>
          </a:p>
          <a:p>
            <a:pPr marL="228600" indent="-228600">
              <a:spcAft>
                <a:spcPts val="600"/>
              </a:spcAft>
              <a:buFont typeface="Arial"/>
              <a:buChar char="•"/>
            </a:pPr>
            <a:r>
              <a:rPr sz="1500" b="0" i="0">
                <a:solidFill>
                  <a:srgbClr val="333333"/>
                </a:solidFill>
                <a:latin typeface="Calibri"/>
              </a:rPr>
              <a:t>Results can be shown using:</a:t>
            </a:r>
          </a:p>
          <a:p>
            <a:pPr lvl="1" marL="457200" indent="-228600">
              <a:spcAft>
                <a:spcPts val="600"/>
              </a:spcAft>
              <a:buFont typeface="Arial"/>
              <a:buChar char="•"/>
            </a:pPr>
            <a:r>
              <a:rPr sz="1400" b="0" i="0">
                <a:solidFill>
                  <a:srgbClr val="333333"/>
                </a:solidFill>
                <a:latin typeface="Calibri"/>
              </a:rPr>
              <a:t>Route/network graph</a:t>
            </a:r>
          </a:p>
          <a:p>
            <a:pPr lvl="1" marL="457200" indent="-228600">
              <a:spcAft>
                <a:spcPts val="600"/>
              </a:spcAft>
              <a:buFont typeface="Arial"/>
              <a:buChar char="•"/>
            </a:pPr>
            <a:r>
              <a:rPr sz="1400" b="0" i="0">
                <a:solidFill>
                  <a:srgbClr val="333333"/>
                </a:solidFill>
                <a:latin typeface="Calibri"/>
              </a:rPr>
              <a:t>Optimized route output</a:t>
            </a:r>
          </a:p>
          <a:p>
            <a:pPr lvl="1" marL="457200" indent="-228600">
              <a:spcAft>
                <a:spcPts val="600"/>
              </a:spcAft>
              <a:buFont typeface="Arial"/>
              <a:buChar char="•"/>
            </a:pPr>
            <a:r>
              <a:rPr sz="1400" b="0" i="0">
                <a:solidFill>
                  <a:srgbClr val="333333"/>
                </a:solidFill>
                <a:latin typeface="Calibri"/>
              </a:rPr>
              <a:t>Timetable</a:t>
            </a:r>
          </a:p>
          <a:p>
            <a:pPr lvl="1" marL="457200" indent="-228600">
              <a:spcAft>
                <a:spcPts val="600"/>
              </a:spcAft>
              <a:buFont typeface="Arial"/>
              <a:buChar char="•"/>
            </a:pPr>
            <a:r>
              <a:rPr sz="1400" b="0" i="0">
                <a:solidFill>
                  <a:srgbClr val="333333"/>
                </a:solidFill>
                <a:latin typeface="Calibri"/>
              </a:rPr>
              <a:t>Bar chart comparing routes</a:t>
            </a:r>
          </a:p>
          <a:p>
            <a:pPr lvl="1" marL="457200" indent="-228600">
              <a:spcAft>
                <a:spcPts val="600"/>
              </a:spcAft>
              <a:buFont typeface="Arial"/>
              <a:buChar char="•"/>
            </a:pPr>
            <a:r>
              <a:rPr sz="1400" b="0" i="0">
                <a:solidFill>
                  <a:srgbClr val="333333"/>
                </a:solidFill>
                <a:latin typeface="Calibri"/>
              </a:rPr>
              <a:t>Waiting-time comparison</a:t>
            </a:r>
          </a:p>
          <a:p>
            <a:pPr lvl="1" marL="457200" indent="-228600">
              <a:spcAft>
                <a:spcPts val="600"/>
              </a:spcAft>
              <a:buFont typeface="Arial"/>
              <a:buChar char="•"/>
            </a:pPr>
            <a:r>
              <a:rPr sz="1400" b="0" i="0">
                <a:solidFill>
                  <a:srgbClr val="333333"/>
                </a:solidFill>
                <a:latin typeface="Calibri"/>
              </a:rPr>
              <a:t>Fleet utilization chart</a:t>
            </a:r>
          </a:p>
          <a:p>
            <a:pPr lvl="1" marL="457200" indent="-228600">
              <a:spcAft>
                <a:spcPts val="600"/>
              </a:spcAft>
              <a:buFont typeface="Arial"/>
              <a:buChar char="•"/>
            </a:pPr>
            <a:r>
              <a:rPr sz="1400" b="0" i="0">
                <a:solidFill>
                  <a:srgbClr val="333333"/>
                </a:solidFill>
                <a:latin typeface="Calibri"/>
              </a:rPr>
              <a:t>Cost comparison</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p:cNvSpPr txBox="1"/>
          <p:nvPr/>
        </p:nvSpPr>
        <p:spPr>
          <a:xfrm>
            <a:off x="2950000" y="950000"/>
            <a:ext cx="8742000" cy="5200000"/>
          </a:xfrm>
          <a:prstGeom prst="rect">
            <a:avLst/>
          </a:prstGeom>
          <a:noFill/>
        </p:spPr>
        <p:txBody>
          <a:bodyPr wrap="square">
            <a:spAutoFit/>
          </a:bodyPr>
          <a:lstStyle/>
          <a:p>
            <a:pPr marL="228600" indent="-228600">
              <a:spcAft>
                <a:spcPts val="600"/>
              </a:spcAft>
              <a:buFont typeface="Arial"/>
              <a:buChar char="•"/>
            </a:pPr>
            <a:r>
              <a:rPr sz="1600" b="1" i="0">
                <a:solidFill>
                  <a:srgbClr val="333333"/>
                </a:solidFill>
                <a:latin typeface="Calibri"/>
              </a:rPr>
              <a:t>Hardware Requirements</a:t>
            </a:r>
          </a:p>
          <a:p>
            <a:pPr lvl="1" marL="457200" indent="-228600">
              <a:spcAft>
                <a:spcPts val="600"/>
              </a:spcAft>
              <a:buFont typeface="Arial"/>
              <a:buChar char="•"/>
            </a:pPr>
            <a:r>
              <a:rPr sz="1400" b="0" i="0">
                <a:solidFill>
                  <a:srgbClr val="333333"/>
                </a:solidFill>
                <a:latin typeface="Calibri"/>
              </a:rPr>
              <a:t>Processor: Intel Core i3 / equivalent or above</a:t>
            </a:r>
          </a:p>
          <a:p>
            <a:pPr lvl="1" marL="457200" indent="-228600">
              <a:spcAft>
                <a:spcPts val="600"/>
              </a:spcAft>
              <a:buFont typeface="Arial"/>
              <a:buChar char="•"/>
            </a:pPr>
            <a:r>
              <a:rPr sz="1400" b="0" i="0">
                <a:solidFill>
                  <a:srgbClr val="333333"/>
                </a:solidFill>
                <a:latin typeface="Calibri"/>
              </a:rPr>
              <a:t>RAM: 8 GB or above</a:t>
            </a:r>
          </a:p>
          <a:p>
            <a:pPr lvl="1" marL="457200" indent="-228600">
              <a:spcAft>
                <a:spcPts val="600"/>
              </a:spcAft>
              <a:buFont typeface="Arial"/>
              <a:buChar char="•"/>
            </a:pPr>
            <a:r>
              <a:rPr sz="1400" b="0" i="0">
                <a:solidFill>
                  <a:srgbClr val="333333"/>
                </a:solidFill>
                <a:latin typeface="Calibri"/>
              </a:rPr>
              <a:t>Storage: 256 GB or above</a:t>
            </a:r>
          </a:p>
          <a:p>
            <a:pPr lvl="1" marL="457200" indent="-228600">
              <a:spcAft>
                <a:spcPts val="600"/>
              </a:spcAft>
              <a:buFont typeface="Arial"/>
              <a:buChar char="•"/>
            </a:pPr>
            <a:r>
              <a:rPr sz="1400" b="0" i="0">
                <a:solidFill>
                  <a:srgbClr val="333333"/>
                </a:solidFill>
                <a:latin typeface="Calibri"/>
              </a:rPr>
              <a:t>Display: Standard monitor</a:t>
            </a:r>
          </a:p>
          <a:p>
            <a:pPr lvl="1" marL="457200" indent="-228600">
              <a:spcAft>
                <a:spcPts val="600"/>
              </a:spcAft>
              <a:buFont typeface="Arial"/>
              <a:buChar char="•"/>
            </a:pPr>
            <a:r>
              <a:rPr sz="1400" b="0" i="0">
                <a:solidFill>
                  <a:srgbClr val="333333"/>
                </a:solidFill>
                <a:latin typeface="Calibri"/>
              </a:rPr>
              <a:t>Internet: Required for data collection/deployment if applicable</a:t>
            </a:r>
          </a:p>
          <a:p>
            <a:pPr marL="228600" indent="-228600">
              <a:spcAft>
                <a:spcPts val="600"/>
              </a:spcAft>
              <a:buFont typeface="Arial"/>
              <a:buChar char="•"/>
            </a:pPr>
            <a:r>
              <a:rPr sz="1600" b="1" i="0">
                <a:solidFill>
                  <a:srgbClr val="333333"/>
                </a:solidFill>
                <a:latin typeface="Calibri"/>
              </a:rPr>
              <a:t>Software Requirements</a:t>
            </a:r>
          </a:p>
          <a:p>
            <a:pPr lvl="1" marL="457200" indent="-228600">
              <a:spcAft>
                <a:spcPts val="600"/>
              </a:spcAft>
              <a:buFont typeface="Arial"/>
              <a:buChar char="•"/>
            </a:pPr>
            <a:r>
              <a:rPr sz="1400" b="0" i="0">
                <a:solidFill>
                  <a:srgbClr val="333333"/>
                </a:solidFill>
                <a:latin typeface="Calibri"/>
              </a:rPr>
              <a:t>Operating System: Windows / Linux</a:t>
            </a:r>
          </a:p>
          <a:p>
            <a:pPr lvl="1" marL="457200" indent="-228600">
              <a:spcAft>
                <a:spcPts val="600"/>
              </a:spcAft>
              <a:buFont typeface="Arial"/>
              <a:buChar char="•"/>
            </a:pPr>
            <a:r>
              <a:rPr sz="1400" b="0" i="0">
                <a:solidFill>
                  <a:srgbClr val="333333"/>
                </a:solidFill>
                <a:latin typeface="Calibri"/>
              </a:rPr>
              <a:t>Programming Language: Python</a:t>
            </a:r>
          </a:p>
          <a:p>
            <a:pPr lvl="1" marL="457200" indent="-228600">
              <a:spcAft>
                <a:spcPts val="600"/>
              </a:spcAft>
              <a:buFont typeface="Arial"/>
              <a:buChar char="•"/>
            </a:pPr>
            <a:r>
              <a:rPr sz="1400" b="0" i="0">
                <a:solidFill>
                  <a:srgbClr val="333333"/>
                </a:solidFill>
                <a:latin typeface="Calibri"/>
              </a:rPr>
              <a:t>IDE: VS Code / PyCharm / Jupyter Notebook</a:t>
            </a:r>
          </a:p>
          <a:p>
            <a:pPr lvl="1" marL="457200" indent="-228600">
              <a:spcAft>
                <a:spcPts val="600"/>
              </a:spcAft>
              <a:buFont typeface="Arial"/>
              <a:buChar char="•"/>
            </a:pPr>
            <a:r>
              <a:rPr sz="1400" b="0" i="0">
                <a:solidFill>
                  <a:srgbClr val="333333"/>
                </a:solidFill>
                <a:latin typeface="Calibri"/>
              </a:rPr>
              <a:t>Libraries: Pandas, NumPy, Matplotlib</a:t>
            </a:r>
          </a:p>
          <a:p>
            <a:pPr lvl="1" marL="457200" indent="-228600">
              <a:spcAft>
                <a:spcPts val="600"/>
              </a:spcAft>
              <a:buFont typeface="Arial"/>
              <a:buChar char="•"/>
            </a:pPr>
            <a:r>
              <a:rPr sz="1400" b="0" i="0">
                <a:solidFill>
                  <a:srgbClr val="333333"/>
                </a:solidFill>
                <a:latin typeface="Calibri"/>
              </a:rPr>
              <a:t>Algorithms: Graph-based routing and optimization algorithms</a:t>
            </a:r>
          </a:p>
          <a:p>
            <a:pPr lvl="1" marL="457200" indent="-228600">
              <a:spcAft>
                <a:spcPts val="600"/>
              </a:spcAft>
              <a:buFont typeface="Arial"/>
              <a:buChar char="•"/>
            </a:pPr>
            <a:r>
              <a:rPr sz="1400" b="0" i="0">
                <a:solidFill>
                  <a:srgbClr val="333333"/>
                </a:solidFill>
                <a:latin typeface="Calibri"/>
              </a:rPr>
              <a:t>Database: As required for storing transit data</a:t>
            </a:r>
          </a:p>
          <a:p>
            <a:pPr lvl="1" marL="457200" indent="-228600">
              <a:spcAft>
                <a:spcPts val="600"/>
              </a:spcAft>
              <a:buFont typeface="Arial"/>
              <a:buChar char="•"/>
            </a:pPr>
            <a:r>
              <a:rPr sz="1400" b="0" i="0">
                <a:solidFill>
                  <a:srgbClr val="333333"/>
                </a:solidFill>
                <a:latin typeface="Calibri"/>
              </a:rPr>
              <a:t>Visualization: Matplotlib / relevant visualization tools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p:cNvSpPr txBox="1"/>
          <p:nvPr/>
        </p:nvSpPr>
        <p:spPr>
          <a:xfrm>
            <a:off x="2950000" y="950000"/>
            <a:ext cx="8742000" cy="5200000"/>
          </a:xfrm>
          <a:prstGeom prst="rect">
            <a:avLst/>
          </a:prstGeom>
          <a:noFill/>
        </p:spPr>
        <p:txBody>
          <a:bodyPr wrap="square">
            <a:spAutoFit/>
          </a:bodyPr>
          <a:lstStyle/>
          <a:p>
            <a:pPr marL="228600" indent="-228600">
              <a:spcAft>
                <a:spcPts val="600"/>
              </a:spcAft>
              <a:buFont typeface="Arial"/>
              <a:buChar char="•"/>
            </a:pPr>
            <a:r>
              <a:rPr sz="1600" b="0" i="0">
                <a:solidFill>
                  <a:srgbClr val="333333"/>
                </a:solidFill>
                <a:latin typeface="Calibri"/>
              </a:rPr>
              <a:t>The Public Transit Planner provides a data-driven solution for public transportation planning.</a:t>
            </a:r>
          </a:p>
          <a:p>
            <a:pPr marL="228600" indent="-228600">
              <a:spcAft>
                <a:spcPts val="600"/>
              </a:spcAft>
              <a:buFont typeface="Arial"/>
              <a:buChar char="•"/>
            </a:pPr>
            <a:r>
              <a:rPr sz="1600" b="0" i="0">
                <a:solidFill>
                  <a:srgbClr val="333333"/>
                </a:solidFill>
                <a:latin typeface="Calibri"/>
              </a:rPr>
              <a:t>Transit data is processed and analyzed to improve route selection and scheduling.</a:t>
            </a:r>
          </a:p>
          <a:p>
            <a:pPr marL="228600" indent="-228600">
              <a:spcAft>
                <a:spcPts val="600"/>
              </a:spcAft>
              <a:buFont typeface="Arial"/>
              <a:buChar char="•"/>
            </a:pPr>
            <a:r>
              <a:rPr sz="1600" b="0" i="0">
                <a:solidFill>
                  <a:srgbClr val="333333"/>
                </a:solidFill>
                <a:latin typeface="Calibri"/>
              </a:rPr>
              <a:t>Graph-based routing helps identify efficient transportation paths.</a:t>
            </a:r>
          </a:p>
          <a:p>
            <a:pPr marL="228600" indent="-228600">
              <a:spcAft>
                <a:spcPts val="600"/>
              </a:spcAft>
              <a:buFont typeface="Arial"/>
              <a:buChar char="•"/>
            </a:pPr>
            <a:r>
              <a:rPr sz="1600" b="0" i="0">
                <a:solidFill>
                  <a:srgbClr val="333333"/>
                </a:solidFill>
                <a:latin typeface="Calibri"/>
              </a:rPr>
              <a:t>Optimization helps balance service quality, fleet availability, and operational cost.</a:t>
            </a:r>
          </a:p>
          <a:p>
            <a:pPr marL="228600" indent="-228600">
              <a:spcAft>
                <a:spcPts val="600"/>
              </a:spcAft>
              <a:buFont typeface="Arial"/>
              <a:buChar char="•"/>
            </a:pPr>
            <a:r>
              <a:rPr sz="1600" b="0" i="0">
                <a:solidFill>
                  <a:srgbClr val="333333"/>
                </a:solidFill>
                <a:latin typeface="Calibri"/>
              </a:rPr>
              <a:t>Performance metrics allow different planning scenarios to be evaluated.</a:t>
            </a:r>
          </a:p>
          <a:p>
            <a:pPr marL="228600" indent="-228600">
              <a:spcAft>
                <a:spcPts val="600"/>
              </a:spcAft>
              <a:buFont typeface="Arial"/>
              <a:buChar char="•"/>
            </a:pPr>
            <a:r>
              <a:rPr sz="1600" b="0" i="0">
                <a:solidFill>
                  <a:srgbClr val="333333"/>
                </a:solidFill>
                <a:latin typeface="Calibri"/>
              </a:rPr>
              <a:t>The system can support transportation planners in making informed decisions.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p:cNvSpPr txBox="1"/>
          <p:nvPr/>
        </p:nvSpPr>
        <p:spPr>
          <a:xfrm>
            <a:off x="2950000" y="950000"/>
            <a:ext cx="8742000" cy="5200000"/>
          </a:xfrm>
          <a:prstGeom prst="rect">
            <a:avLst/>
          </a:prstGeom>
          <a:noFill/>
        </p:spPr>
        <p:txBody>
          <a:bodyPr wrap="square">
            <a:spAutoFit/>
          </a:bodyPr>
          <a:lstStyle/>
          <a:p>
            <a:pPr marL="228600" indent="-228600">
              <a:spcAft>
                <a:spcPts val="600"/>
              </a:spcAft>
              <a:buFont typeface="Arial"/>
              <a:buChar char="•"/>
            </a:pPr>
            <a:r>
              <a:rPr sz="1600" b="0" i="0">
                <a:solidFill>
                  <a:srgbClr val="333333"/>
                </a:solidFill>
                <a:latin typeface="Calibri"/>
              </a:rPr>
              <a:t>Integration with real-time GPS/bus location data.</a:t>
            </a:r>
          </a:p>
          <a:p>
            <a:pPr marL="228600" indent="-228600">
              <a:spcAft>
                <a:spcPts val="600"/>
              </a:spcAft>
              <a:buFont typeface="Arial"/>
              <a:buChar char="•"/>
            </a:pPr>
            <a:r>
              <a:rPr sz="1600" b="0" i="0">
                <a:solidFill>
                  <a:srgbClr val="333333"/>
                </a:solidFill>
                <a:latin typeface="Calibri"/>
              </a:rPr>
              <a:t>Real-time traffic-aware route optimization.</a:t>
            </a:r>
          </a:p>
          <a:p>
            <a:pPr marL="228600" indent="-228600">
              <a:spcAft>
                <a:spcPts val="600"/>
              </a:spcAft>
              <a:buFont typeface="Arial"/>
              <a:buChar char="•"/>
            </a:pPr>
            <a:r>
              <a:rPr sz="1600" b="0" i="0">
                <a:solidFill>
                  <a:srgbClr val="333333"/>
                </a:solidFill>
                <a:latin typeface="Calibri"/>
              </a:rPr>
              <a:t>Prediction of passenger demand using Machine Learning.</a:t>
            </a:r>
          </a:p>
          <a:p>
            <a:pPr marL="228600" indent="-228600">
              <a:spcAft>
                <a:spcPts val="600"/>
              </a:spcAft>
              <a:buFont typeface="Arial"/>
              <a:buChar char="•"/>
            </a:pPr>
            <a:r>
              <a:rPr sz="1600" b="0" i="0">
                <a:solidFill>
                  <a:srgbClr val="333333"/>
                </a:solidFill>
                <a:latin typeface="Calibri"/>
              </a:rPr>
              <a:t>Dynamic timetable generation based on current demand.</a:t>
            </a:r>
          </a:p>
          <a:p>
            <a:pPr marL="228600" indent="-228600">
              <a:spcAft>
                <a:spcPts val="600"/>
              </a:spcAft>
              <a:buFont typeface="Arial"/>
              <a:buChar char="•"/>
            </a:pPr>
            <a:r>
              <a:rPr sz="1600" b="0" i="0">
                <a:solidFill>
                  <a:srgbClr val="333333"/>
                </a:solidFill>
                <a:latin typeface="Calibri"/>
              </a:rPr>
              <a:t>Mobile/web application for passengers.</a:t>
            </a:r>
          </a:p>
          <a:p>
            <a:pPr marL="228600" indent="-228600">
              <a:spcAft>
                <a:spcPts val="600"/>
              </a:spcAft>
              <a:buFont typeface="Arial"/>
              <a:buChar char="•"/>
            </a:pPr>
            <a:r>
              <a:rPr sz="1600" b="0" i="0">
                <a:solidFill>
                  <a:srgbClr val="333333"/>
                </a:solidFill>
                <a:latin typeface="Calibri"/>
              </a:rPr>
              <a:t>Real-time arrival and delay notifications.</a:t>
            </a:r>
          </a:p>
          <a:p>
            <a:pPr marL="228600" indent="-228600">
              <a:spcAft>
                <a:spcPts val="600"/>
              </a:spcAft>
              <a:buFont typeface="Arial"/>
              <a:buChar char="•"/>
            </a:pPr>
            <a:r>
              <a:rPr sz="1600" b="0" i="0">
                <a:solidFill>
                  <a:srgbClr val="333333"/>
                </a:solidFill>
                <a:latin typeface="Calibri"/>
              </a:rPr>
              <a:t>Integration with multiple transportation modes such as bus, metro, and rail.</a:t>
            </a:r>
          </a:p>
          <a:p>
            <a:pPr marL="228600" indent="-228600">
              <a:spcAft>
                <a:spcPts val="600"/>
              </a:spcAft>
              <a:buFont typeface="Arial"/>
              <a:buChar char="•"/>
            </a:pPr>
            <a:r>
              <a:rPr sz="1600" b="0" i="0">
                <a:solidFill>
                  <a:srgbClr val="333333"/>
                </a:solidFill>
                <a:latin typeface="Calibri"/>
              </a:rPr>
              <a:t>Advanced optimization for large-scale city transportation networks.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